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8" r:id="rId2"/>
    <p:sldId id="259" r:id="rId3"/>
    <p:sldId id="260" r:id="rId4"/>
    <p:sldId id="262" r:id="rId5"/>
    <p:sldId id="266" r:id="rId6"/>
    <p:sldId id="273" r:id="rId7"/>
    <p:sldId id="277" r:id="rId8"/>
    <p:sldId id="267" r:id="rId9"/>
    <p:sldId id="268" r:id="rId10"/>
    <p:sldId id="274" r:id="rId11"/>
    <p:sldId id="278" r:id="rId12"/>
    <p:sldId id="269" r:id="rId13"/>
    <p:sldId id="270" r:id="rId14"/>
    <p:sldId id="271" r:id="rId15"/>
    <p:sldId id="279" r:id="rId16"/>
    <p:sldId id="276" r:id="rId17"/>
    <p:sldId id="281" r:id="rId18"/>
    <p:sldId id="283" r:id="rId19"/>
    <p:sldId id="284" r:id="rId20"/>
    <p:sldId id="275" r:id="rId21"/>
    <p:sldId id="272" r:id="rId22"/>
    <p:sldId id="264" r:id="rId2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turankar" userId="ca5667e51d7b6c43" providerId="LiveId" clId="{059D6E9A-378D-416B-94D5-710543A0ABED}"/>
    <pc:docChg chg="modSld sldOrd">
      <pc:chgData name="harsh turankar" userId="ca5667e51d7b6c43" providerId="LiveId" clId="{059D6E9A-378D-416B-94D5-710543A0ABED}" dt="2025-09-11T12:12:36.808" v="1"/>
      <pc:docMkLst>
        <pc:docMk/>
      </pc:docMkLst>
      <pc:sldChg chg="ord">
        <pc:chgData name="harsh turankar" userId="ca5667e51d7b6c43" providerId="LiveId" clId="{059D6E9A-378D-416B-94D5-710543A0ABED}" dt="2025-09-11T12:12:36.808" v="1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45995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7c82bc41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7c82bc41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464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481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759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051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388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111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459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064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2664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036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94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7726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1110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9374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8428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525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8428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5255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84289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26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61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528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21925" y="4917825"/>
            <a:ext cx="91221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t="357" b="357"/>
          <a:stretch/>
        </p:blipFill>
        <p:spPr>
          <a:xfrm>
            <a:off x="-31612" y="0"/>
            <a:ext cx="715125" cy="521202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826264" y="562283"/>
            <a:ext cx="778892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Project Presentation</a:t>
            </a:r>
          </a:p>
          <a:p>
            <a:pPr algn="ctr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……………………………………………………………………………	</a:t>
            </a:r>
          </a:p>
          <a:p>
            <a:pPr algn="ctr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Presented by : </a:t>
            </a:r>
          </a:p>
          <a:p>
            <a:pPr algn="ctr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Mr. HARSH  DEORAO  TURANKAR</a:t>
            </a:r>
          </a:p>
          <a:p>
            <a:pPr algn="ctr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(BCA Third  Year )</a:t>
            </a:r>
          </a:p>
          <a:p>
            <a:pPr eaLnBrk="1" hangingPunct="1"/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Under the Guidance of </a:t>
            </a:r>
          </a:p>
          <a:p>
            <a:pPr algn="ctr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Dr. SONALI NIMBHORKAR</a:t>
            </a:r>
            <a:endParaRPr lang="en-US" altLang="en-US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800" dirty="0"/>
              <a:t> </a:t>
            </a:r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Department of Computer Applications</a:t>
            </a:r>
          </a:p>
          <a:p>
            <a:pPr algn="ctr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G H Raisoni University, Amravati</a:t>
            </a:r>
          </a:p>
          <a:p>
            <a:pPr algn="ctr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Academic Session:2025-26</a:t>
            </a:r>
            <a:endParaRPr lang="en-US" sz="1000" dirty="0"/>
          </a:p>
        </p:txBody>
      </p:sp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586149" y="192636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645230" y="3920683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667" y="0"/>
            <a:ext cx="73335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1717288" y="201881"/>
            <a:ext cx="6203554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tx1"/>
                </a:solidFill>
                <a:latin typeface="Montserrat"/>
                <a:ea typeface="Montserrat"/>
                <a:cs typeface="Segoe UI Semibold" panose="020B0702040204020203" pitchFamily="34" charset="0"/>
                <a:sym typeface="Montserrat"/>
              </a:rPr>
              <a:t>INDEX</a:t>
            </a:r>
          </a:p>
          <a:p>
            <a:pPr>
              <a:defRPr/>
            </a:pPr>
            <a:endParaRPr lang="en-US" sz="24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IN" sz="1800" dirty="0"/>
              <a:t>Introduction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Objective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Scope of the Project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Software and Hardware Requirements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Modules and Features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Technologies Used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Development Approach 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Testing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Conclusion</a:t>
            </a:r>
          </a:p>
          <a:p>
            <a:pPr>
              <a:defRPr/>
            </a:pPr>
            <a:endParaRPr lang="en-US" sz="1800" dirty="0"/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endParaRPr lang="en-US" sz="1800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endParaRPr lang="en-US" sz="1800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endParaRPr lang="en-US" sz="1800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endParaRPr lang="en-US" sz="3600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103149" y="4260524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0" y="105247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638355" y="301863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0" y="105247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05975" y="445025"/>
            <a:ext cx="33156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018478" y="1224600"/>
            <a:ext cx="7196253" cy="26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IN" dirty="0">
                <a:latin typeface="+mn-lt"/>
              </a:rPr>
              <a:t>Forever Celebration-Hub is an all-in-one online platform designed to simplify the process of planning, organizing, and hosting celebrations and events of all kinds. Whether it's a wedding, birthday, corporate event, or a festive holiday party, Forever Celebration-Hub offers a comprehensive range of tools, resources, and services to create unforgettable moments.</a:t>
            </a:r>
          </a:p>
          <a:p>
            <a:pPr marL="0" lvl="0" indent="0" algn="just">
              <a:spcAft>
                <a:spcPts val="1200"/>
              </a:spcAft>
              <a:buNone/>
            </a:pPr>
            <a:endParaRPr lang="en-GB" sz="1400" dirty="0">
              <a:solidFill>
                <a:schemeClr val="dk1"/>
              </a:solidFill>
              <a:latin typeface="+mn-l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" y="0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620525" y="72984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542102" y="4260600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05975" y="260195"/>
            <a:ext cx="3315600" cy="9465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048215" y="1278672"/>
            <a:ext cx="6825160" cy="27563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lvl="0" indent="0">
              <a:buNone/>
            </a:pPr>
            <a:r>
              <a:rPr lang="en-IN" dirty="0"/>
              <a:t>              The platform will serve as a one-stop solution for individuals and professionals by offering essential event planning tools, a marketplace for vendors, inspiration galleries, and innovative virtual event solutions.</a:t>
            </a:r>
          </a:p>
          <a:p>
            <a:pPr marL="114300" indent="0">
              <a:buNone/>
            </a:pPr>
            <a:r>
              <a:rPr lang="en-IN" dirty="0"/>
              <a:t> </a:t>
            </a:r>
          </a:p>
          <a:p>
            <a:pPr marL="114300" indent="0">
              <a:buNone/>
            </a:pPr>
            <a:r>
              <a:rPr lang="en-IN" dirty="0"/>
              <a:t>                         *The purpose of the Software*</a:t>
            </a:r>
          </a:p>
          <a:p>
            <a:pPr marL="114300" indent="0">
              <a:buNone/>
            </a:pPr>
            <a:r>
              <a:rPr lang="en-IN" dirty="0"/>
              <a:t>             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The purpose of the software for Forever Celebration-Hub is to provide an all-in-one platform for event planning, streamlining the process of organizing, managing, and hosting celebrations of any kind.  </a:t>
            </a:r>
          </a:p>
          <a:p>
            <a:pPr marL="0" lvl="0" indent="0" algn="just">
              <a:spcAft>
                <a:spcPts val="1200"/>
              </a:spcAft>
              <a:buNone/>
            </a:pPr>
            <a:endParaRPr lang="en-GB" sz="1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" y="-17313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542102" y="4260600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698947" y="156848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indent="-457200" algn="ctr">
              <a:defRPr/>
            </a:pPr>
            <a:r>
              <a:rPr lang="en-US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Scope of the Project </a:t>
            </a:r>
            <a:endParaRPr lang="en-IN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273744" y="197150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542102" y="238107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05975" y="334537"/>
            <a:ext cx="3381615" cy="8721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Scope of the Project 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107688" y="1449659"/>
            <a:ext cx="6735951" cy="28026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project aims to </a:t>
            </a:r>
            <a:r>
              <a:rPr lang="en-US" sz="1600" b="1" dirty="0"/>
              <a:t>simplify event planning</a:t>
            </a:r>
            <a:r>
              <a:rPr lang="en-US" sz="1600" dirty="0"/>
              <a:t> by offering all services on a single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Users can </a:t>
            </a:r>
            <a:r>
              <a:rPr lang="en-US" sz="1600" b="1" dirty="0"/>
              <a:t>search by city</a:t>
            </a:r>
            <a:r>
              <a:rPr lang="en-US" sz="1600" dirty="0"/>
              <a:t>, view vendors (hall, catering, decor), and book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Includes </a:t>
            </a:r>
            <a:r>
              <a:rPr lang="en-US" sz="1600" b="1" dirty="0"/>
              <a:t>Restaurant Management System (RMS)</a:t>
            </a:r>
            <a:r>
              <a:rPr lang="en-US" sz="1600" dirty="0"/>
              <a:t> for managing catering orders, reservations, and inventory.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Features like </a:t>
            </a:r>
            <a:r>
              <a:rPr lang="en-US" sz="1600" b="1" dirty="0"/>
              <a:t>reels, chatbot, and online payments</a:t>
            </a:r>
            <a:r>
              <a:rPr lang="en-US" sz="1600" dirty="0"/>
              <a:t> enhance user experience and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system supports </a:t>
            </a:r>
            <a:r>
              <a:rPr lang="en-US" sz="1600" b="1" dirty="0"/>
              <a:t>multi-vendor registration</a:t>
            </a:r>
            <a:r>
              <a:rPr lang="en-US" sz="1600" dirty="0"/>
              <a:t> and can be scaled for weddings, birthdays, corporate events,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Future scope includes </a:t>
            </a:r>
            <a:r>
              <a:rPr lang="en-US" sz="1600" b="1" dirty="0"/>
              <a:t>admin analytics, real-time notifications, vendor reviews</a:t>
            </a:r>
            <a:r>
              <a:rPr lang="en-US" sz="1600" dirty="0"/>
              <a:t>, and mobile app version.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3287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672731" y="4156259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560367" y="93203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ctr"/>
            <a:r>
              <a:rPr lang="en-US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Software and Hardware Requirements </a:t>
            </a: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403296" y="210081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438975" y="251038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13162" y="1"/>
            <a:ext cx="4773881" cy="13307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Software and Hardware Requirement</a:t>
            </a:r>
            <a:endParaRPr sz="2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147228" y="1060417"/>
            <a:ext cx="6467400" cy="3370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r>
              <a:rPr lang="en-IN" sz="1050" b="1" u="sng" dirty="0"/>
              <a:t>Development Software</a:t>
            </a:r>
            <a:endParaRPr lang="en-IN" sz="1050" b="1" dirty="0"/>
          </a:p>
          <a:p>
            <a:pPr marL="114300" indent="0">
              <a:buNone/>
            </a:pPr>
            <a:r>
              <a:rPr lang="en-IN" sz="800" dirty="0"/>
              <a:t> </a:t>
            </a:r>
          </a:p>
          <a:p>
            <a:pPr marL="114300" indent="0">
              <a:buNone/>
            </a:pPr>
            <a:r>
              <a:rPr lang="en-IN" sz="800" dirty="0"/>
              <a:t>    </a:t>
            </a:r>
            <a:r>
              <a:rPr lang="en-IN" sz="800" i="1" dirty="0"/>
              <a:t>Programming Languages</a:t>
            </a:r>
            <a:r>
              <a:rPr lang="en-IN" sz="800" dirty="0"/>
              <a:t>:</a:t>
            </a:r>
          </a:p>
          <a:p>
            <a:pPr marL="114300" indent="0">
              <a:buNone/>
            </a:pPr>
            <a:r>
              <a:rPr lang="en-IN" sz="800" dirty="0"/>
              <a:t>        Frontend: HTML, CSS, JavaScript</a:t>
            </a:r>
          </a:p>
          <a:p>
            <a:pPr marL="114300" indent="0">
              <a:buNone/>
            </a:pPr>
            <a:r>
              <a:rPr lang="en-IN" sz="800" dirty="0"/>
              <a:t>        Backend: Node.js, EJS.</a:t>
            </a:r>
          </a:p>
          <a:p>
            <a:pPr marL="114300" indent="0">
              <a:buNone/>
            </a:pPr>
            <a:r>
              <a:rPr lang="en-IN" sz="800" dirty="0"/>
              <a:t> </a:t>
            </a:r>
          </a:p>
          <a:p>
            <a:pPr marL="114300" indent="0">
              <a:buNone/>
            </a:pPr>
            <a:r>
              <a:rPr lang="en-IN" sz="800" i="1" dirty="0"/>
              <a:t>    Database Management</a:t>
            </a:r>
            <a:r>
              <a:rPr lang="en-IN" sz="800" dirty="0"/>
              <a:t>:</a:t>
            </a:r>
          </a:p>
          <a:p>
            <a:pPr marL="114300" indent="0">
              <a:buNone/>
            </a:pPr>
            <a:r>
              <a:rPr lang="en-IN" sz="800" dirty="0"/>
              <a:t>         PostgreSQL (for relational database management)</a:t>
            </a:r>
          </a:p>
          <a:p>
            <a:pPr marL="114300" indent="0">
              <a:buNone/>
            </a:pPr>
            <a:r>
              <a:rPr lang="en-IN" sz="800" dirty="0"/>
              <a:t>       </a:t>
            </a:r>
          </a:p>
          <a:p>
            <a:pPr marL="114300" indent="0">
              <a:buNone/>
            </a:pPr>
            <a:r>
              <a:rPr lang="en-IN" sz="800" dirty="0"/>
              <a:t>    </a:t>
            </a:r>
            <a:r>
              <a:rPr lang="en-IN" sz="800" i="1" dirty="0"/>
              <a:t>Version Control</a:t>
            </a:r>
            <a:r>
              <a:rPr lang="en-IN" sz="800" dirty="0"/>
              <a:t>:</a:t>
            </a:r>
          </a:p>
          <a:p>
            <a:pPr marL="114300" indent="0">
              <a:buNone/>
            </a:pPr>
            <a:r>
              <a:rPr lang="en-IN" sz="800" dirty="0"/>
              <a:t>        Git (for version control and collaboration)</a:t>
            </a:r>
          </a:p>
          <a:p>
            <a:pPr marL="114300" indent="0">
              <a:buNone/>
            </a:pPr>
            <a:r>
              <a:rPr lang="en-IN" sz="800" dirty="0"/>
              <a:t> GitHub or GitLab (for hosting repositories)</a:t>
            </a:r>
          </a:p>
          <a:p>
            <a:pPr marL="114300" indent="0">
              <a:buNone/>
            </a:pPr>
            <a:endParaRPr lang="en-IN" sz="1050" b="1" dirty="0"/>
          </a:p>
          <a:p>
            <a:pPr marL="114300" lvl="0" indent="0">
              <a:buNone/>
            </a:pPr>
            <a:r>
              <a:rPr lang="en-IN" sz="1050" b="1" u="sng" dirty="0"/>
              <a:t>Hardware Requirements</a:t>
            </a:r>
            <a:endParaRPr lang="en-IN" sz="1050" b="1" dirty="0"/>
          </a:p>
          <a:p>
            <a:pPr marL="114300" indent="0">
              <a:buNone/>
            </a:pPr>
            <a:r>
              <a:rPr lang="en-IN" sz="800" dirty="0"/>
              <a:t> </a:t>
            </a:r>
          </a:p>
          <a:p>
            <a:pPr marL="114300" indent="0">
              <a:buNone/>
            </a:pPr>
            <a:r>
              <a:rPr lang="en-IN" sz="800" dirty="0"/>
              <a:t> Development Environment</a:t>
            </a:r>
          </a:p>
          <a:p>
            <a:pPr marL="114300" indent="0">
              <a:buNone/>
            </a:pPr>
            <a:r>
              <a:rPr lang="en-IN" sz="800" dirty="0"/>
              <a:t>    Development Machines:</a:t>
            </a:r>
          </a:p>
          <a:p>
            <a:pPr marL="114300" indent="0">
              <a:buNone/>
            </a:pPr>
            <a:r>
              <a:rPr lang="en-IN" sz="800" dirty="0"/>
              <a:t>        Minimum Specifications:</a:t>
            </a:r>
          </a:p>
          <a:p>
            <a:pPr marL="114300" indent="0">
              <a:buNone/>
            </a:pPr>
            <a:r>
              <a:rPr lang="en-IN" sz="800" dirty="0"/>
              <a:t>            CPU: Dual-core (Intel i5 or equivalent)</a:t>
            </a:r>
          </a:p>
          <a:p>
            <a:pPr marL="114300" indent="0">
              <a:buNone/>
            </a:pPr>
            <a:r>
              <a:rPr lang="en-IN" sz="800" dirty="0"/>
              <a:t>            RAM: 8GB (16GB recommended for larger projects)</a:t>
            </a:r>
          </a:p>
          <a:p>
            <a:pPr marL="114300" indent="0">
              <a:buNone/>
            </a:pPr>
            <a:r>
              <a:rPr lang="en-IN" sz="800" dirty="0"/>
              <a:t>            Storage: 256GB SSD (preferably with additional HDD for backups)</a:t>
            </a:r>
          </a:p>
          <a:p>
            <a:pPr marL="114300" indent="0">
              <a:buNone/>
            </a:pPr>
            <a:r>
              <a:rPr lang="en-IN" sz="800" dirty="0"/>
              <a:t>            Graphics: Integrated graphics sufficient for development needs</a:t>
            </a:r>
          </a:p>
          <a:p>
            <a:pPr marL="114300" indent="0">
              <a:buNone/>
            </a:pPr>
            <a:endParaRPr lang="en-IN" sz="800" dirty="0"/>
          </a:p>
          <a:p>
            <a:pPr marL="114300" lvl="0" indent="0">
              <a:buNone/>
            </a:pPr>
            <a:endParaRPr lang="en-US" sz="800" dirty="0"/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591651" y="216937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672731" y="4156259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1564395" y="2190900"/>
            <a:ext cx="64008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indent="-457200" algn="ctr">
              <a:defRPr/>
            </a:pPr>
            <a:r>
              <a:rPr lang="en-US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Modules and  Features </a:t>
            </a:r>
            <a:endParaRPr lang="en-IN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583353" y="169863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407080" y="169863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58013" y="231450"/>
            <a:ext cx="5457533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IN" b="1" dirty="0"/>
              <a:t>Modules and Features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131296" y="1224600"/>
            <a:ext cx="6669043" cy="2931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114300" lvl="0" indent="0">
              <a:buNone/>
            </a:pPr>
            <a:r>
              <a:rPr lang="en-IN" sz="2200" b="1" u="sng" dirty="0"/>
              <a:t>User Account Management</a:t>
            </a:r>
          </a:p>
          <a:p>
            <a:pPr marL="114300" lvl="0" indent="0">
              <a:buNone/>
            </a:pPr>
            <a:endParaRPr lang="en-IN" b="1" u="sng" dirty="0"/>
          </a:p>
          <a:p>
            <a:pPr marL="114300" indent="0">
              <a:buNone/>
            </a:pPr>
            <a:r>
              <a:rPr lang="en-IN" dirty="0"/>
              <a:t> 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i="1" dirty="0"/>
              <a:t>User Registration/Login</a:t>
            </a:r>
            <a:r>
              <a:rPr lang="en-IN" dirty="0"/>
              <a:t>: Simple sign-up process via email or social media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 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i="1" dirty="0"/>
              <a:t>Profile Management</a:t>
            </a:r>
            <a:r>
              <a:rPr lang="en-IN" dirty="0"/>
              <a:t>: Users can create and manage profiles, including personal details and preferences.</a:t>
            </a:r>
          </a:p>
          <a:p>
            <a:pPr marL="114300" indent="0">
              <a:buNone/>
            </a:pPr>
            <a:r>
              <a:rPr lang="en-IN" b="1" u="sng" dirty="0"/>
              <a:t>  </a:t>
            </a:r>
          </a:p>
          <a:p>
            <a:pPr marL="114300" lvl="0" indent="0">
              <a:buNone/>
            </a:pPr>
            <a:r>
              <a:rPr lang="en-IN" sz="2200" b="1" u="sng" dirty="0"/>
              <a:t>Event Planning Tools</a:t>
            </a:r>
          </a:p>
          <a:p>
            <a:pPr marL="114300" lvl="0" indent="0">
              <a:buNone/>
            </a:pPr>
            <a:endParaRPr lang="en-IN" sz="2200" b="1" u="sng" dirty="0"/>
          </a:p>
          <a:p>
            <a:pPr marL="114300" indent="0">
              <a:buNone/>
            </a:pPr>
            <a:r>
              <a:rPr lang="en-IN" dirty="0"/>
              <a:t> 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i="1" dirty="0"/>
              <a:t>Custom Event Checklists</a:t>
            </a:r>
            <a:r>
              <a:rPr lang="en-IN" dirty="0"/>
              <a:t>: Users can create tailored checklists for different types of events (e.g., weddings, birthdays).</a:t>
            </a:r>
          </a:p>
          <a:p>
            <a:pPr marL="114300" indent="0">
              <a:buNone/>
            </a:pPr>
            <a:r>
              <a:rPr lang="en-IN" dirty="0"/>
              <a:t> 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i="1" dirty="0"/>
              <a:t>Budget Planner</a:t>
            </a:r>
            <a:r>
              <a:rPr lang="en-IN" dirty="0"/>
              <a:t>: An interactive tool to help users set and track budgets for their events.</a:t>
            </a:r>
          </a:p>
          <a:p>
            <a:pPr marL="114300" indent="0">
              <a:buNone/>
            </a:pPr>
            <a:r>
              <a:rPr lang="en-IN" dirty="0"/>
              <a:t> </a:t>
            </a:r>
          </a:p>
          <a:p>
            <a:pPr marL="114300" lvl="0" indent="0">
              <a:buNone/>
            </a:pPr>
            <a:endParaRPr lang="en-US" sz="1200" dirty="0"/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672731" y="4156259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571026" y="196312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indent="-457200" algn="ctr">
              <a:defRPr/>
            </a:pPr>
            <a:r>
              <a:rPr lang="en-US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Technology Used </a:t>
            </a: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187074" y="155780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356473" y="237695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05974" y="44502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Technology Used 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256371" y="1224599"/>
            <a:ext cx="6617004" cy="3173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sz="1600" b="1" i="1" u="sng" dirty="0"/>
              <a:t>Front-End Technologies:</a:t>
            </a:r>
            <a:endParaRPr lang="en-IN" sz="1600" b="1" u="sng" dirty="0"/>
          </a:p>
          <a:p>
            <a:pPr marL="114300" indent="0">
              <a:buNone/>
            </a:pPr>
            <a:r>
              <a:rPr lang="en-IN" sz="1000" dirty="0"/>
              <a:t> 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000" dirty="0"/>
              <a:t>HTML, CSS, JavaScript: Core technologies for web development.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000" dirty="0"/>
              <a:t> JavaScript frameworks used to build dynamic and responsive user interfaces.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000" dirty="0"/>
              <a:t>Bootstrap </a:t>
            </a:r>
          </a:p>
          <a:p>
            <a:pPr marL="114300" indent="0">
              <a:buNone/>
            </a:pPr>
            <a:r>
              <a:rPr lang="en-IN" sz="1000" dirty="0"/>
              <a:t> </a:t>
            </a:r>
          </a:p>
          <a:p>
            <a:pPr marL="114300" indent="0">
              <a:buNone/>
            </a:pPr>
            <a:r>
              <a:rPr lang="en-IN" sz="1600" b="1" i="1" u="sng" dirty="0"/>
              <a:t>    Back-End Technologies</a:t>
            </a:r>
            <a:r>
              <a:rPr lang="en-IN" sz="1600" b="1" u="sng" dirty="0"/>
              <a:t>:</a:t>
            </a:r>
          </a:p>
          <a:p>
            <a:pPr marL="114300" indent="0">
              <a:buNone/>
            </a:pPr>
            <a:endParaRPr lang="en-IN" sz="1600" b="1" u="sng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000" dirty="0"/>
              <a:t>Node.js / Express.js: JavaScript runtime and framework often used for developing server-side applications.</a:t>
            </a:r>
          </a:p>
          <a:p>
            <a:pPr marL="114300" indent="0">
              <a:buNone/>
            </a:pPr>
            <a:r>
              <a:rPr lang="en-IN" sz="1000" dirty="0"/>
              <a:t>  </a:t>
            </a:r>
          </a:p>
          <a:p>
            <a:pPr marL="114300" indent="0">
              <a:buNone/>
            </a:pPr>
            <a:r>
              <a:rPr lang="en-IN" sz="1000" dirty="0"/>
              <a:t>    </a:t>
            </a:r>
            <a:r>
              <a:rPr lang="en-IN" sz="1000" i="1" dirty="0"/>
              <a:t>Databases:</a:t>
            </a:r>
            <a:endParaRPr lang="en-IN" sz="10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000" dirty="0"/>
              <a:t>PostgreSQL: Relational databases for structured data storage.</a:t>
            </a:r>
          </a:p>
          <a:p>
            <a:pPr marL="114300" indent="0">
              <a:buNone/>
            </a:pPr>
            <a:r>
              <a:rPr lang="en-IN" sz="1000" dirty="0"/>
              <a:t> </a:t>
            </a:r>
          </a:p>
          <a:p>
            <a:pPr marL="114300" lvl="0" indent="0">
              <a:buNone/>
            </a:pPr>
            <a:endParaRPr lang="en-IN" sz="1000" dirty="0"/>
          </a:p>
          <a:p>
            <a:pPr marL="114300" indent="0">
              <a:buNone/>
            </a:pPr>
            <a:r>
              <a:rPr lang="en-IN" sz="1000" dirty="0"/>
              <a:t> </a:t>
            </a:r>
          </a:p>
          <a:p>
            <a:pPr marL="114300" indent="0">
              <a:buNone/>
            </a:pPr>
            <a:r>
              <a:rPr lang="en-IN" sz="1000" dirty="0"/>
              <a:t> </a:t>
            </a:r>
          </a:p>
          <a:p>
            <a:pPr marL="114300" indent="0">
              <a:buNone/>
            </a:pPr>
            <a:endParaRPr lang="en-IN" sz="1000" dirty="0"/>
          </a:p>
          <a:p>
            <a:pPr marL="114300" indent="0">
              <a:buNone/>
            </a:pPr>
            <a:r>
              <a:rPr lang="en-IN" sz="1000" dirty="0"/>
              <a:t> </a:t>
            </a:r>
          </a:p>
          <a:p>
            <a:pPr marL="114300" lvl="0" indent="0">
              <a:buNone/>
            </a:pPr>
            <a:endParaRPr lang="en-US" sz="1000" dirty="0"/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672731" y="4156259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672731" y="225675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493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/>
            <a:r>
              <a:rPr lang="en-US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Development Approach</a:t>
            </a: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187074" y="128279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521477" y="196737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05974" y="176343"/>
            <a:ext cx="3882121" cy="10303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IN" b="1" dirty="0"/>
              <a:t>Development Approach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936702" y="1086333"/>
            <a:ext cx="6936673" cy="31288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endParaRPr lang="en-US" sz="900" dirty="0"/>
          </a:p>
          <a:p>
            <a:pPr marL="114300" indent="0">
              <a:buNone/>
            </a:pPr>
            <a:r>
              <a:rPr lang="en-IN" sz="900" b="1" dirty="0"/>
              <a:t>Requirement Gathering</a:t>
            </a:r>
          </a:p>
          <a:p>
            <a:pPr marL="114300" indent="0">
              <a:buNone/>
            </a:pPr>
            <a:r>
              <a:rPr lang="en-IN" sz="900" dirty="0"/>
              <a:t>Define target users (Users, Vendors, Admin)</a:t>
            </a:r>
          </a:p>
          <a:p>
            <a:pPr marL="114300" indent="0">
              <a:buNone/>
            </a:pPr>
            <a:r>
              <a:rPr lang="en-IN" sz="900" dirty="0"/>
              <a:t>Decide core features:</a:t>
            </a:r>
            <a:br>
              <a:rPr lang="en-IN" sz="900" dirty="0"/>
            </a:br>
            <a:r>
              <a:rPr lang="en-IN" sz="900" dirty="0"/>
              <a:t> Login/Signup, Event Search, Vendor Listing, RMS, Reels, Chatbot, Payment</a:t>
            </a:r>
            <a:endParaRPr lang="en-US" sz="900" dirty="0"/>
          </a:p>
          <a:p>
            <a:endParaRPr lang="en-US" sz="900" dirty="0"/>
          </a:p>
          <a:p>
            <a:pPr marL="114300" indent="0">
              <a:buNone/>
            </a:pPr>
            <a:r>
              <a:rPr lang="en-IN" sz="900" b="1" dirty="0"/>
              <a:t>System Design</a:t>
            </a:r>
          </a:p>
          <a:p>
            <a:pPr marL="114300" indent="0">
              <a:buNone/>
            </a:pPr>
            <a:r>
              <a:rPr lang="en-IN" sz="900" b="1" dirty="0"/>
              <a:t>Frontend Layout</a:t>
            </a:r>
            <a:r>
              <a:rPr lang="en-IN" sz="900" dirty="0"/>
              <a:t>: Responsive UI with EJS/Bootstrap</a:t>
            </a:r>
          </a:p>
          <a:p>
            <a:pPr marL="114300" indent="0">
              <a:buNone/>
            </a:pPr>
            <a:r>
              <a:rPr lang="en-IN" sz="900" b="1" dirty="0"/>
              <a:t>Backend Flow</a:t>
            </a:r>
            <a:r>
              <a:rPr lang="en-IN" sz="900" dirty="0"/>
              <a:t>: Express.js routes + sessions</a:t>
            </a:r>
          </a:p>
          <a:p>
            <a:pPr marL="114300" indent="0">
              <a:buNone/>
            </a:pPr>
            <a:r>
              <a:rPr lang="en-IN" sz="900" b="1" dirty="0"/>
              <a:t>Database Schema</a:t>
            </a:r>
            <a:r>
              <a:rPr lang="en-IN" sz="900" dirty="0"/>
              <a:t>: Users, Vendors, Bookings, Reels, Payments</a:t>
            </a:r>
          </a:p>
          <a:p>
            <a:pPr marL="114300" indent="0">
              <a:buNone/>
            </a:pPr>
            <a:r>
              <a:rPr lang="en-IN" sz="900" b="1" dirty="0"/>
              <a:t>API Integration</a:t>
            </a:r>
            <a:r>
              <a:rPr lang="en-IN" sz="900" dirty="0"/>
              <a:t>: Google Places, Razor pay</a:t>
            </a:r>
          </a:p>
          <a:p>
            <a:pPr marL="114300" indent="0">
              <a:buNone/>
            </a:pPr>
            <a:endParaRPr lang="en-IN" sz="900" dirty="0"/>
          </a:p>
          <a:p>
            <a:pPr marL="114300" indent="0">
              <a:buNone/>
            </a:pPr>
            <a:r>
              <a:rPr lang="en-IN" sz="900" b="1" dirty="0"/>
              <a:t>Testing</a:t>
            </a:r>
          </a:p>
          <a:p>
            <a:pPr marL="114300" indent="0">
              <a:buNone/>
            </a:pPr>
            <a:r>
              <a:rPr lang="en-IN" sz="900" dirty="0"/>
              <a:t>Validate forms, sessions, logins</a:t>
            </a:r>
          </a:p>
          <a:p>
            <a:pPr marL="114300" indent="0">
              <a:buNone/>
            </a:pPr>
            <a:r>
              <a:rPr lang="en-IN" sz="900" dirty="0"/>
              <a:t>Check API responses</a:t>
            </a:r>
          </a:p>
          <a:p>
            <a:pPr marL="114300" indent="0">
              <a:buNone/>
            </a:pPr>
            <a:r>
              <a:rPr lang="en-IN" sz="900" dirty="0"/>
              <a:t>Fix UI bugs &amp; database errors</a:t>
            </a:r>
          </a:p>
          <a:p>
            <a:pPr marL="114300" indent="0">
              <a:buNone/>
            </a:pPr>
            <a:endParaRPr lang="en-IN" sz="900" dirty="0"/>
          </a:p>
          <a:p>
            <a:pPr marL="114300" indent="0">
              <a:buNone/>
            </a:pPr>
            <a:r>
              <a:rPr lang="en-IN" sz="900" b="1" dirty="0"/>
              <a:t>Deployment</a:t>
            </a:r>
          </a:p>
          <a:p>
            <a:pPr marL="114300" indent="0">
              <a:buNone/>
            </a:pPr>
            <a:r>
              <a:rPr lang="en-IN" sz="900" b="1" dirty="0"/>
              <a:t>LOCAL HOST </a:t>
            </a:r>
          </a:p>
          <a:p>
            <a:pPr marL="114300" indent="0">
              <a:buNone/>
            </a:pPr>
            <a:endParaRPr lang="en-IN" sz="900" b="1" dirty="0"/>
          </a:p>
          <a:p>
            <a:pPr marL="114300" indent="0">
              <a:buNone/>
            </a:pPr>
            <a:r>
              <a:rPr lang="en-US" sz="900" b="1" dirty="0"/>
              <a:t>Maintenance</a:t>
            </a:r>
          </a:p>
          <a:p>
            <a:pPr marL="114300" indent="0">
              <a:buNone/>
            </a:pPr>
            <a:r>
              <a:rPr lang="en-US" sz="900" dirty="0"/>
              <a:t>Monitor errors/logs</a:t>
            </a:r>
          </a:p>
          <a:p>
            <a:pPr marL="114300" indent="0">
              <a:buNone/>
            </a:pPr>
            <a:r>
              <a:rPr lang="en-US" sz="900" dirty="0"/>
              <a:t>Add new features (notifications, analytics, etc.)</a:t>
            </a:r>
          </a:p>
          <a:p>
            <a:pPr marL="114300" indent="0">
              <a:buNone/>
            </a:pPr>
            <a:r>
              <a:rPr lang="en-US" sz="900" dirty="0"/>
              <a:t>Regular backup &amp; updates</a:t>
            </a:r>
          </a:p>
          <a:p>
            <a:pPr marL="114300" indent="0">
              <a:buNone/>
            </a:pPr>
            <a:endParaRPr lang="en-IN" sz="900" dirty="0"/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3287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646653" y="176343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489808" y="4089750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/>
            <a:r>
              <a:rPr lang="en-IN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Feasibility Analysis</a:t>
            </a:r>
            <a:endParaRPr lang="en-US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521477" y="196737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255826" y="196737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05974" y="176343"/>
            <a:ext cx="3882121" cy="8774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IN" b="1" dirty="0">
                <a:ea typeface="Montserrat"/>
              </a:rPr>
              <a:t>Feasibility Analysis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063083" y="1224599"/>
            <a:ext cx="6810292" cy="3102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b="1" dirty="0"/>
              <a:t>Technically feasible</a:t>
            </a:r>
            <a:r>
              <a:rPr lang="en-US" sz="1600" dirty="0"/>
              <a:t> with Node.js, Express, PostgreSQL, APIs</a:t>
            </a:r>
          </a:p>
          <a:p>
            <a:r>
              <a:rPr lang="en-US" sz="1600" dirty="0"/>
              <a:t>Can be easily deployed on cloud (Render/Railway)</a:t>
            </a:r>
          </a:p>
          <a:p>
            <a:r>
              <a:rPr lang="en-US" sz="1600" b="1" dirty="0"/>
              <a:t>UI is user-friendly</a:t>
            </a:r>
            <a:r>
              <a:rPr lang="en-US" sz="1600" dirty="0"/>
              <a:t> for both users and vendors</a:t>
            </a:r>
          </a:p>
          <a:p>
            <a:r>
              <a:rPr lang="en-US" sz="1600" dirty="0"/>
              <a:t>Reduces manual effort in event planning</a:t>
            </a:r>
          </a:p>
          <a:p>
            <a:r>
              <a:rPr lang="en-US" sz="1600" b="1" dirty="0"/>
              <a:t>Low-cost development</a:t>
            </a:r>
            <a:r>
              <a:rPr lang="en-US" sz="1600" dirty="0"/>
              <a:t> using open-source tools</a:t>
            </a:r>
          </a:p>
          <a:p>
            <a:r>
              <a:rPr lang="en-US" sz="1600" dirty="0"/>
              <a:t>Revenue possible via vendor bookings &amp; promotions</a:t>
            </a:r>
          </a:p>
          <a:p>
            <a:r>
              <a:rPr lang="en-US" sz="1600" dirty="0"/>
              <a:t>Scalable for weddings, birthdays, corporate events</a:t>
            </a:r>
          </a:p>
          <a:p>
            <a:r>
              <a:rPr lang="en-US" sz="1600" dirty="0"/>
              <a:t>Long-term sustainable and easy to maintain</a:t>
            </a:r>
          </a:p>
          <a:p>
            <a:pPr marL="114300" indent="0">
              <a:buNone/>
            </a:pPr>
            <a:endParaRPr lang="en-US" sz="1600" dirty="0"/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646653" y="176343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489808" y="4089750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41897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/>
            <a:r>
              <a:rPr lang="en-IN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Testing </a:t>
            </a:r>
            <a:endParaRPr lang="en-US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521477" y="196737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255826" y="196737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4009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05974" y="96644"/>
            <a:ext cx="3882121" cy="818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IN" b="1" dirty="0">
                <a:ea typeface="Montserrat"/>
              </a:rPr>
              <a:t>Testing 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646653" y="176343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489808" y="4089750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75E6BE-481C-D46F-3A3D-C1FF4EB0F1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406525" y="1002092"/>
            <a:ext cx="545854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Login/Signup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 validation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 panose="020B0502040204020203" pitchFamily="18" charset="0"/>
              </a:rPr>
              <a:t>Or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check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Search &amp; Booking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flow working properly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Gateway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success/fail test with Razorpay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Reels upload, like, comment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Mobile/Desktop responsive 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API, DB &amp; error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tested properly</a:t>
            </a:r>
          </a:p>
        </p:txBody>
      </p:sp>
    </p:spTree>
    <p:extLst>
      <p:ext uri="{BB962C8B-B14F-4D97-AF65-F5344CB8AC3E}">
        <p14:creationId xmlns:p14="http://schemas.microsoft.com/office/powerpoint/2010/main" val="357193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35601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/>
            <a:r>
              <a:rPr lang="en-US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 </a:t>
            </a: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21885"/>
            <a:ext cx="9144003" cy="1321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317703" y="300277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425224" y="382192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405974" y="44502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Conclusion 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405975" y="1224599"/>
            <a:ext cx="6467400" cy="2966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indent="0">
              <a:buNone/>
            </a:pPr>
            <a:r>
              <a:rPr lang="en-US" sz="1400" dirty="0"/>
              <a:t>Forever Celebration-Hub is a complete online solution for planning and managing events effortlessly.</a:t>
            </a:r>
            <a:br>
              <a:rPr lang="en-US" sz="1400" dirty="0"/>
            </a:br>
            <a:r>
              <a:rPr lang="en-US" sz="1400" dirty="0"/>
              <a:t>It integrates modern features like vendor booking, city-based search, reels, chatbot, RMS, and secure payments.</a:t>
            </a:r>
            <a:br>
              <a:rPr lang="en-US" sz="1400" dirty="0"/>
            </a:br>
            <a:r>
              <a:rPr lang="en-US" sz="1400" dirty="0"/>
              <a:t>The project follows a full development cycle — from requirement gathering to deployment and testing.</a:t>
            </a:r>
            <a:br>
              <a:rPr lang="en-US" sz="1400" dirty="0"/>
            </a:br>
            <a:r>
              <a:rPr lang="en-US" sz="1400" dirty="0"/>
              <a:t>It addresses real-world needs by bringing all celebration services onto a single platform.</a:t>
            </a:r>
            <a:br>
              <a:rPr lang="en-US" sz="1400" dirty="0"/>
            </a:br>
            <a:r>
              <a:rPr lang="en-US" sz="1400" dirty="0"/>
              <a:t>With a responsive UI and scalable architecture, it is ready for future enhancements.</a:t>
            </a:r>
            <a:br>
              <a:rPr lang="en-US" sz="1400" dirty="0"/>
            </a:br>
            <a:r>
              <a:rPr lang="en-US" sz="1400" dirty="0"/>
              <a:t>Overall, it's a practical and impactful full-stack project with real-life applications.</a:t>
            </a:r>
          </a:p>
        </p:txBody>
      </p:sp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068127" cy="25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7521477" y="4191221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7521477" y="196339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sz="3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t="475" b="485"/>
          <a:stretch/>
        </p:blipFill>
        <p:spPr>
          <a:xfrm>
            <a:off x="7305600" y="0"/>
            <a:ext cx="18383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" t="4200" r="79222" b="82758"/>
          <a:stretch/>
        </p:blipFill>
        <p:spPr bwMode="auto">
          <a:xfrm>
            <a:off x="317703" y="300277"/>
            <a:ext cx="1231900" cy="739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86" t="4578" r="2630" b="85484"/>
          <a:stretch/>
        </p:blipFill>
        <p:spPr bwMode="auto">
          <a:xfrm>
            <a:off x="160858" y="4253098"/>
            <a:ext cx="1388745" cy="6572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933</Words>
  <Application>Microsoft Office PowerPoint</Application>
  <PresentationFormat>On-screen Show (16:9)</PresentationFormat>
  <Paragraphs>156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Montserrat</vt:lpstr>
      <vt:lpstr>Wingdings</vt:lpstr>
      <vt:lpstr>Times New Roman</vt:lpstr>
      <vt:lpstr>Simple Light</vt:lpstr>
      <vt:lpstr>PowerPoint Presentation</vt:lpstr>
      <vt:lpstr>PowerPoint Presentation</vt:lpstr>
      <vt:lpstr>Introduction</vt:lpstr>
      <vt:lpstr>Introduction</vt:lpstr>
      <vt:lpstr>Objective</vt:lpstr>
      <vt:lpstr>Scope of the Project </vt:lpstr>
      <vt:lpstr>Scope of the Project </vt:lpstr>
      <vt:lpstr>Software and Hardware Requirements </vt:lpstr>
      <vt:lpstr>Software and Hardware Requirement</vt:lpstr>
      <vt:lpstr>Modules and  Features </vt:lpstr>
      <vt:lpstr>Modules and Features</vt:lpstr>
      <vt:lpstr>Technology Used </vt:lpstr>
      <vt:lpstr>Technology Used </vt:lpstr>
      <vt:lpstr>Development Approach</vt:lpstr>
      <vt:lpstr>Development Approach</vt:lpstr>
      <vt:lpstr>Feasibility Analysis</vt:lpstr>
      <vt:lpstr>Feasibility Analysis</vt:lpstr>
      <vt:lpstr>Testing </vt:lpstr>
      <vt:lpstr>Testing </vt:lpstr>
      <vt:lpstr>Conclusion </vt:lpstr>
      <vt:lpstr>Conclusion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harsh turankar</cp:lastModifiedBy>
  <cp:revision>40</cp:revision>
  <dcterms:modified xsi:type="dcterms:W3CDTF">2025-09-11T12:12:45Z</dcterms:modified>
</cp:coreProperties>
</file>